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2342A0-855E-489A-B5B7-1D4EB0782693}">
  <a:tblStyle styleId="{DE2342A0-855E-489A-B5B7-1D4EB07826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08c9e85e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08c9e85e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08c9e85e0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08c9e85e0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8c9e85e0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8c9e85e0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08c9e85e0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08c9e85e0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8c9e85e0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8c9e85e0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8c9e85e0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8c9e85e0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08c9e85e0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08c9e85e0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08c9e85e0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08c9e85e0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08c9e85e0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08c9e85e0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08c9e85e0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08c9e85e0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08c9e85e0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08c9e85e0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08c9e85e0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08c9e85e0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08c9e85e0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08c9e85e0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08c9e85e0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08c9e85e0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08c9e85e0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08c9e85e0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08c9e85e0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08c9e85e0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170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en-GB" sz="2170"/>
              <a:t>Nitro NLP </a:t>
            </a:r>
            <a:endParaRPr b="1" sz="2170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990"/>
              <a:buNone/>
            </a:pPr>
            <a:r>
              <a:rPr b="1" lang="en-GB" sz="2170"/>
              <a:t>Estimating Total Reading Times</a:t>
            </a:r>
            <a:r>
              <a:rPr b="1" lang="en-GB" sz="2170"/>
              <a:t> </a:t>
            </a:r>
            <a:r>
              <a:rPr b="1" lang="en-GB" sz="2170"/>
              <a:t>in</a:t>
            </a:r>
            <a:r>
              <a:rPr b="1" lang="en-GB" sz="2170"/>
              <a:t> </a:t>
            </a:r>
            <a:r>
              <a:rPr b="1" lang="en-GB" sz="2170"/>
              <a:t>Romanian Texts</a:t>
            </a:r>
            <a:endParaRPr b="1" sz="217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78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02633"/>
            <a:ext cx="5361300" cy="52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B45F06"/>
                </a:solidFill>
              </a:rPr>
              <a:t>Team "DragonIPV4"</a:t>
            </a:r>
            <a:r>
              <a:rPr lang="en-GB" sz="1400">
                <a:solidFill>
                  <a:srgbClr val="B45F06"/>
                </a:solidFill>
              </a:rPr>
              <a:t> — Chirilușs Antonie | Luparu Ioan Teodor | Savin Radu Andrei </a:t>
            </a:r>
            <a:endParaRPr sz="3100">
              <a:solidFill>
                <a:srgbClr val="B45F0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Task: Predict how long words take to read by unseen Romanian readers in given texts.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Reading time is measured in Total Reading Time (TRT): longer, unpredictable words = higher TRT / common, easy words = ~0 TRT.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Challenge: Given test set has 5 readers and 3 texts that never appear in training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Difficulty =&gt; Model must transfer to both unseen readers and unseen documents simultaneously.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Processing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Dataset: train - 30 readers × 9 texts, 5 genres (literary, popular science, argumentation, encyclopaedic, instructional) / test — 5 held-out readers × 3 held-out texts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Key findings from prior work (Hodivoianu et al., 2025):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Word length is the strongest predictor of TRT (Pearson 0.63)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Word frequency (0.38) and MLM log-probability (0.37) follow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Combining scalar features with BERT embeddings gives best results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First-subword log-probability outperforms averaging all subword tokens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Data Processing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-"/>
            </a:pPr>
            <a:r>
              <a:rPr lang="en-GB" sz="1600">
                <a:solidFill>
                  <a:srgbClr val="000000"/>
                </a:solidFill>
              </a:rPr>
              <a:t>What we added:</a:t>
            </a:r>
            <a:endParaRPr sz="1600">
              <a:solidFill>
                <a:srgbClr val="000000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Causal surprisal from Romanian GPT-2</a:t>
            </a:r>
            <a:endParaRPr sz="1600">
              <a:solidFill>
                <a:srgbClr val="000000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Data augmentation for unseen reader generalisation</a:t>
            </a:r>
            <a:endParaRPr sz="1600">
              <a:solidFill>
                <a:srgbClr val="000000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Two-stage LightGBM with Tweedie + skip-gate architecture</a:t>
            </a:r>
            <a:endParaRPr sz="1600">
              <a:solidFill>
                <a:srgbClr val="000000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Session-level rolling features (pass 2)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Engineering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-GB" sz="1600">
                <a:solidFill>
                  <a:srgbClr val="000000"/>
                </a:solidFill>
              </a:rPr>
              <a:t>Word-level surface</a:t>
            </a:r>
            <a:r>
              <a:rPr lang="en-GB" sz="1600">
                <a:solidFill>
                  <a:srgbClr val="000000"/>
                </a:solidFill>
              </a:rPr>
              <a:t> — length, syllable count, is_punct, is_url, has_digit, is_upper_first, ends_with_punct </a:t>
            </a:r>
            <a:endParaRPr sz="16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-GB" sz="1600">
                <a:solidFill>
                  <a:srgbClr val="000000"/>
                </a:solidFill>
              </a:rPr>
              <a:t>Positional</a:t>
            </a:r>
            <a:r>
              <a:rPr lang="en-GB" sz="1600">
                <a:solidFill>
                  <a:srgbClr val="000000"/>
                </a:solidFill>
              </a:rPr>
              <a:t> — doc/page/word index from word_id, position within page, page size, relative position; same stats for previous and next word </a:t>
            </a:r>
            <a:endParaRPr sz="16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GB" sz="1600">
                <a:solidFill>
                  <a:srgbClr val="000000"/>
                </a:solidFill>
              </a:rPr>
              <a:t> </a:t>
            </a:r>
            <a:r>
              <a:rPr b="1" lang="en-GB" sz="1600">
                <a:solidFill>
                  <a:srgbClr val="000000"/>
                </a:solidFill>
              </a:rPr>
              <a:t>Frequency </a:t>
            </a:r>
            <a:r>
              <a:rPr lang="en-GB" sz="1600">
                <a:solidFill>
                  <a:srgbClr val="000000"/>
                </a:solidFill>
              </a:rPr>
              <a:t>— </a:t>
            </a:r>
            <a:endParaRPr b="1" sz="16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-GB" sz="1600">
                <a:solidFill>
                  <a:srgbClr val="000000"/>
                </a:solidFill>
              </a:rPr>
              <a:t>Corpus log-frequency from train + test counts; prev/next neighbour features</a:t>
            </a:r>
            <a:endParaRPr sz="16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-GB" sz="1600">
                <a:solidFill>
                  <a:srgbClr val="000000"/>
                </a:solidFill>
              </a:rPr>
              <a:t>External Zipf frequency via wordfreq (Romanian), independent of corpus size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300"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-GB" sz="1600">
                <a:solidFill>
                  <a:srgbClr val="000000"/>
                </a:solidFill>
              </a:rPr>
              <a:t>Genre features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</a:rPr>
              <a:t>Genre prefix extracted from text name (lit_, popsci_, arg_, enc_, ins_)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</a:rPr>
              <a:t>Leave-text-out genre mean TRT (genre_enc) — no lookahead within the current document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-GB" sz="1600">
                <a:solidFill>
                  <a:srgbClr val="000000"/>
                </a:solidFill>
              </a:rPr>
              <a:t>Per-word target statistics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</a:rPr>
              <a:t>Mean</a:t>
            </a:r>
            <a:r>
              <a:rPr lang="en-GB" sz="1600">
                <a:solidFill>
                  <a:srgbClr val="000000"/>
                </a:solidFill>
              </a:rPr>
              <a:t>, median, std, count, skip rate per lowercased token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GB" sz="1600">
                <a:solidFill>
                  <a:srgbClr val="000000"/>
                </a:solidFill>
              </a:rPr>
              <a:t>Computed leave-text-out to prevent target leakage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 Model Features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Causal surprisal</a:t>
            </a:r>
            <a:r>
              <a:rPr lang="en-GB" sz="1600">
                <a:solidFill>
                  <a:srgbClr val="000000"/>
                </a:solidFill>
              </a:rPr>
              <a:t> (Romanian GPT-2)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− logp ( w t ∣ w 1 , … , w t − 1 ) — how unexpected is the word given its left context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Sliding window with 50% overlap for pages &gt; 1024 tokens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Previous and next surprisal values added as neighbour features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 Model Features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BERT MLM log-probability</a:t>
            </a:r>
            <a:r>
              <a:rPr lang="en-GB" sz="1600">
                <a:solidFill>
                  <a:srgbClr val="000000"/>
                </a:solidFill>
              </a:rPr>
              <a:t> (Romanian BERT, Dumitrescu et al., 2020)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Replace subword tokens with [MASK], score the original token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mlm_logp_first — first subword token only (most predictive)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mlm_logp_sum — sum over all subword tokens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Conditions on both left and right context, complementary to causal surprisal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Language Model Features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BERT contextual embeddings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Average of last 4 hidden layers, pooled across subword tokens via character-offset alignment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768-dim → PCA → 24 principal components used as features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n_bert_subwords added as morphological complexity proxy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Extracted once per unique word_id (not repeated across 30 participants)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Augmentation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Why? </a:t>
            </a:r>
            <a:r>
              <a:rPr lang="en-GB" sz="1600">
                <a:solidFill>
                  <a:srgbClr val="000000"/>
                </a:solidFill>
              </a:rPr>
              <a:t>Both readers and texts in the test set are fully unseen — the model must generalise to new reader profiles without new texts.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Participant mixup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For each (text, page, word position) triplet, randomly pair two training readers.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Linearly interpolate their TRT values: α ⋅ TRT A + ( 1 − α ) ⋅ TRT B.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Also add one "average reader" row (mean TRT over all readers at that position).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Augmentation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819150" y="1722000"/>
            <a:ext cx="75057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Genre average reader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For each (genre, word) pair, add a synthetic row with TRT = genre-wide mean for that word.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Anchors the model to genre-conditioned word baselines without needing the exact text.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Leakage protection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Augmented rows are flagged with _is_orig = False.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The second training pass (rolling features) trains only on original rows, whose pass-1 predictions are leakage-free.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Two-Stage LightGBM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819150" y="1652500"/>
            <a:ext cx="75057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Why two stages?</a:t>
            </a:r>
            <a:r>
              <a:rPr lang="en-GB" sz="1600">
                <a:solidFill>
                  <a:srgbClr val="000000"/>
                </a:solidFill>
              </a:rPr>
              <a:t> TRT is zero-inflated — a single model must learn both skip probability and non-zero duration, which have conflicting shapes.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Stage 1 — Tweedie regressor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LightGBM with Tweedie loss (variance power 1.4).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Designed for zero-inflated positive-valued targets; trained on all rows.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Stage 2 —</a:t>
            </a:r>
            <a:r>
              <a:rPr b="1" lang="en-GB" sz="1600">
                <a:solidFill>
                  <a:srgbClr val="000000"/>
                </a:solidFill>
              </a:rPr>
              <a:t> </a:t>
            </a:r>
            <a:r>
              <a:rPr b="1" lang="en-GB" sz="1600">
                <a:solidFill>
                  <a:srgbClr val="000000"/>
                </a:solidFill>
              </a:rPr>
              <a:t>Skip classifier × log1p regressor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Binary classifier predicts P ( skip ).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Separate regressor trained only on non-zero rows with log ⁡ ( 1 + TRT ) target.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Combined prediction: (1 − p̂_skip) × ŷ_nz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Two-Stage LightGBM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819150" y="1652500"/>
            <a:ext cx="75057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Blend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Final: w · ŷₛ₁ + (1 − w) · ŷₛ₂, with w grid-searched on OOF to maximise the competition metric.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Cross-validation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000000"/>
                </a:solidFill>
              </a:rPr>
              <a:t>GroupKFold by text — mirrors the unseen-text test structure exactly.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Rolling Features &amp; Callibration</a:t>
            </a:r>
            <a:endParaRPr/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819150" y="1652500"/>
            <a:ext cx="75057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Rolling session features (pass 2)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Reading is sequential — a reader's pace at word </a:t>
            </a:r>
            <a:r>
              <a:rPr i="1" lang="en-GB" sz="1600">
                <a:solidFill>
                  <a:srgbClr val="000000"/>
                </a:solidFill>
              </a:rPr>
              <a:t>t</a:t>
            </a:r>
            <a:r>
              <a:rPr lang="en-GB" sz="1600">
                <a:solidFill>
                  <a:srgbClr val="000000"/>
                </a:solidFill>
              </a:rPr>
              <a:t> affects word t + 1.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After pass-1 OOF predictions are available, compute per-participant: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session_word_idx — absolute word position in the reading session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pass1_pred — the blended pass-1 prediction for this word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roll_mean_k — rolling mean of previous k predictions ( k ∈ 10 , 20 , 50 )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000000"/>
                </a:solidFill>
              </a:rPr>
              <a:t>roll_skip_k — rolling skip-rate estimate over previous k words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Rolling Features &amp; Callibration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819150" y="1652500"/>
            <a:ext cx="7505700" cy="30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A second GroupKFold LightGBM is trained on original rows using base + rolling features. Blend weight w 2 is optimised between pass-1 and pass-2 OOF.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Linear calibration: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Tweedie models rank well but can drift in absolute scale.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After training: ŷfinal = aŷ + b OLS fit on OOF predictions.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Pearson is unchanged; R² improves =&gt; free points on the metric.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&amp; Conclusions</a:t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Results (out-of-fold progression)</a:t>
            </a:r>
            <a:r>
              <a:rPr lang="en-GB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graphicFrame>
        <p:nvGraphicFramePr>
          <p:cNvPr id="220" name="Google Shape;220;p28"/>
          <p:cNvGraphicFramePr/>
          <p:nvPr/>
        </p:nvGraphicFramePr>
        <p:xfrm>
          <a:off x="952500" y="249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{DE2342A0-855E-489A-B5B7-1D4EB0782693}</a:tableStyleId>
              </a:tblPr>
              <a:tblGrid>
                <a:gridCol w="3619500"/>
                <a:gridCol w="2343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OOF Score</a:t>
                      </a:r>
                      <a:endParaRPr b="1"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 1 — Tweedie LGB (base features)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~36–38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</a:t>
                      </a: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 2 — Two-stage blend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Rolling features (pass 2)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Linear calibration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GB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Results &amp; Conclusions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Conclusion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</a:rPr>
              <a:t>A multi-stage pipeline combining handcrafted features, Romanian GPT-2 surprisal, Romanian BERT embeddings, reader-profile augmentation, and session-aware rolling features, all evaluated with leakage-free leave-text-out cross-validation.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